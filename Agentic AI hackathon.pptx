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grandir Bold" charset="1" panose="00000800000000000000"/>
      <p:regular r:id="rId20"/>
    </p:embeddedFont>
    <p:embeddedFont>
      <p:font typeface="Agrandir Bold Italics" charset="1" panose="00000800000000000000"/>
      <p:regular r:id="rId21"/>
    </p:embeddedFont>
    <p:embeddedFont>
      <p:font typeface="Agrandir" charset="1" panose="00000500000000000000"/>
      <p:regular r:id="rId22"/>
    </p:embeddedFont>
    <p:embeddedFont>
      <p:font typeface="Agrandir Italics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gif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gif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gif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gif" Type="http://schemas.openxmlformats.org/officeDocument/2006/relationships/image"/><Relationship Id="rId3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gif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gif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gif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gif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gif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7782" y="752503"/>
            <a:ext cx="1431430" cy="1335404"/>
          </a:xfrm>
          <a:custGeom>
            <a:avLst/>
            <a:gdLst/>
            <a:ahLst/>
            <a:cxnLst/>
            <a:rect r="r" b="b" t="t" l="l"/>
            <a:pathLst>
              <a:path h="1335404" w="1431430">
                <a:moveTo>
                  <a:pt x="0" y="0"/>
                </a:moveTo>
                <a:lnTo>
                  <a:pt x="1431430" y="0"/>
                </a:lnTo>
                <a:lnTo>
                  <a:pt x="1431430" y="1335404"/>
                </a:lnTo>
                <a:lnTo>
                  <a:pt x="0" y="133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29847" y="238361"/>
            <a:ext cx="1849547" cy="1849547"/>
          </a:xfrm>
          <a:custGeom>
            <a:avLst/>
            <a:gdLst/>
            <a:ahLst/>
            <a:cxnLst/>
            <a:rect r="r" b="b" t="t" l="l"/>
            <a:pathLst>
              <a:path h="1849547" w="1849547">
                <a:moveTo>
                  <a:pt x="0" y="0"/>
                </a:moveTo>
                <a:lnTo>
                  <a:pt x="1849547" y="0"/>
                </a:lnTo>
                <a:lnTo>
                  <a:pt x="1849547" y="1849546"/>
                </a:lnTo>
                <a:lnTo>
                  <a:pt x="0" y="1849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60869" y="3333844"/>
            <a:ext cx="16338418" cy="146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8"/>
              </a:lnSpc>
            </a:pPr>
            <a:r>
              <a:rPr lang="en-US" sz="8526" b="true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AgentsInAction Hackathon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18826" y="5258442"/>
            <a:ext cx="7022504" cy="602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6"/>
              </a:lnSpc>
            </a:pPr>
            <a:r>
              <a:rPr lang="en-US" sz="3514" b="true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Team Name - Synkron Knights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32914" y="6841490"/>
            <a:ext cx="5994328" cy="2416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b="true" sz="2800" i="true">
                <a:solidFill>
                  <a:srgbClr val="2B2B2B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Team members :</a:t>
            </a:r>
          </a:p>
          <a:p>
            <a:pPr algn="ctr">
              <a:lnSpc>
                <a:spcPts val="3080"/>
              </a:lnSpc>
            </a:pPr>
          </a:p>
          <a:p>
            <a:pPr algn="ctr">
              <a:lnSpc>
                <a:spcPts val="3080"/>
              </a:lnSpc>
            </a:pPr>
            <a:r>
              <a:rPr lang="en-US" sz="28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Karthikram Prabhakar</a:t>
            </a:r>
          </a:p>
          <a:p>
            <a:pPr algn="ctr">
              <a:lnSpc>
                <a:spcPts val="3080"/>
              </a:lnSpc>
            </a:pPr>
            <a:r>
              <a:rPr lang="en-US" sz="28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Hemashri S</a:t>
            </a:r>
          </a:p>
          <a:p>
            <a:pPr algn="ctr">
              <a:lnSpc>
                <a:spcPts val="3080"/>
              </a:lnSpc>
            </a:pPr>
            <a:r>
              <a:rPr lang="en-US" sz="28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Keerthika R</a:t>
            </a:r>
          </a:p>
          <a:p>
            <a:pPr algn="ctr">
              <a:lnSpc>
                <a:spcPts val="3080"/>
              </a:lnSpc>
            </a:pPr>
            <a:r>
              <a:rPr lang="en-US" sz="28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Sai Vighnessh B 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93249" y="2906351"/>
            <a:ext cx="11308961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58849" y="4435526"/>
            <a:ext cx="17729151" cy="4335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5"/>
              </a:lnSpc>
            </a:pPr>
          </a:p>
          <a:p>
            <a:pPr algn="l">
              <a:lnSpc>
                <a:spcPts val="6745"/>
              </a:lnSpc>
            </a:pPr>
            <a:r>
              <a:rPr lang="en-US" sz="4818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HTPS - Cross Jurisdictional Legal Real Time Risk Modeling  </a:t>
            </a:r>
          </a:p>
          <a:p>
            <a:pPr algn="l">
              <a:lnSpc>
                <a:spcPts val="6745"/>
              </a:lnSpc>
            </a:pPr>
            <a:r>
              <a:rPr lang="en-US" sz="4818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                                    (More Legal)</a:t>
            </a:r>
          </a:p>
          <a:p>
            <a:pPr algn="l">
              <a:lnSpc>
                <a:spcPts val="6745"/>
              </a:lnSpc>
              <a:spcBef>
                <a:spcPct val="0"/>
              </a:spcBef>
            </a:pPr>
          </a:p>
          <a:p>
            <a:pPr algn="l">
              <a:lnSpc>
                <a:spcPts val="6745"/>
              </a:lnSpc>
              <a:spcBef>
                <a:spcPct val="0"/>
              </a:spcBef>
            </a:pP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11717982" y="-8365900"/>
            <a:ext cx="10541077" cy="105224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11717982" y="-8365900"/>
            <a:ext cx="10541077" cy="10522453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8264093" y="5624161"/>
            <a:ext cx="1759813" cy="2847452"/>
          </a:xfrm>
          <a:custGeom>
            <a:avLst/>
            <a:gdLst/>
            <a:ahLst/>
            <a:cxnLst/>
            <a:rect r="r" b="b" t="t" l="l"/>
            <a:pathLst>
              <a:path h="2847452" w="1759813">
                <a:moveTo>
                  <a:pt x="0" y="0"/>
                </a:moveTo>
                <a:lnTo>
                  <a:pt x="1759814" y="0"/>
                </a:lnTo>
                <a:lnTo>
                  <a:pt x="1759814" y="2847452"/>
                </a:lnTo>
                <a:lnTo>
                  <a:pt x="0" y="28474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9021" y="309562"/>
            <a:ext cx="11308961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Synkron Knights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9021" y="2380205"/>
            <a:ext cx="17366467" cy="292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5"/>
              </a:lnSpc>
              <a:spcBef>
                <a:spcPct val="0"/>
              </a:spcBef>
            </a:pPr>
            <a:r>
              <a:rPr lang="en-US" sz="3218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The reason to name the agents as Synkron Knights is: The word </a:t>
            </a:r>
            <a:r>
              <a:rPr lang="en-US" b="true" sz="3218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Synkron</a:t>
            </a:r>
            <a:r>
              <a:rPr lang="en-US" sz="3218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denotes ‘</a:t>
            </a:r>
            <a:r>
              <a:rPr lang="en-US" sz="3218" i="true">
                <a:solidFill>
                  <a:srgbClr val="2B2B2B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synchronization of information</a:t>
            </a:r>
            <a:r>
              <a:rPr lang="en-US" sz="3218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’ and the word </a:t>
            </a:r>
            <a:r>
              <a:rPr lang="en-US" b="true" sz="3218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Knights</a:t>
            </a:r>
            <a:r>
              <a:rPr lang="en-US" sz="3218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denote ‘</a:t>
            </a:r>
            <a:r>
              <a:rPr lang="en-US" sz="3218" i="true">
                <a:solidFill>
                  <a:srgbClr val="2B2B2B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law protectors</a:t>
            </a:r>
            <a:r>
              <a:rPr lang="en-US" sz="3218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’. The purpose is to sync the latest legal information across countries and to provide optimal decision making support, with better legal practices.</a:t>
            </a:r>
          </a:p>
          <a:p>
            <a:pPr algn="l">
              <a:lnSpc>
                <a:spcPts val="450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11717982" y="-8365900"/>
            <a:ext cx="10541077" cy="10522453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711007" y="1730856"/>
            <a:ext cx="14865547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Need of Synkron Knights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1007" y="3514619"/>
            <a:ext cx="16277514" cy="468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Businesses operating across countries face changing and conflicting laws, and manual interpretation of complex legal texts often causes delays, inconsistent decisions, and increased risk of fines and compliance failures.</a:t>
            </a:r>
          </a:p>
          <a:p>
            <a:pPr algn="l">
              <a:lnSpc>
                <a:spcPts val="4059"/>
              </a:lnSpc>
            </a:pP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Synkron Knights is an AI-powered Legal Risk Intelligence system designed to analyze unstructured business or regulatory text and provide a clear, actionable risk assessment. </a:t>
            </a:r>
          </a:p>
          <a:p>
            <a:pPr algn="l">
              <a:lnSpc>
                <a:spcPts val="4059"/>
              </a:lnSpc>
            </a:pP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The solution converts complex regulatory analysis into plain-English insights, reducing manual legal effort and ensuring consistency in risk evaluation.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11717982" y="-8365900"/>
            <a:ext cx="10541077" cy="10522453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562384" y="8864604"/>
            <a:ext cx="585343" cy="669921"/>
          </a:xfrm>
          <a:custGeom>
            <a:avLst/>
            <a:gdLst/>
            <a:ahLst/>
            <a:cxnLst/>
            <a:rect r="r" b="b" t="t" l="l"/>
            <a:pathLst>
              <a:path h="669921" w="585343">
                <a:moveTo>
                  <a:pt x="0" y="0"/>
                </a:moveTo>
                <a:lnTo>
                  <a:pt x="585343" y="0"/>
                </a:lnTo>
                <a:lnTo>
                  <a:pt x="585343" y="669921"/>
                </a:lnTo>
                <a:lnTo>
                  <a:pt x="0" y="6699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6161" y="4543238"/>
            <a:ext cx="2636392" cy="3520269"/>
          </a:xfrm>
          <a:custGeom>
            <a:avLst/>
            <a:gdLst/>
            <a:ahLst/>
            <a:cxnLst/>
            <a:rect r="r" b="b" t="t" l="l"/>
            <a:pathLst>
              <a:path h="3520269" w="2636392">
                <a:moveTo>
                  <a:pt x="0" y="0"/>
                </a:moveTo>
                <a:lnTo>
                  <a:pt x="2636392" y="0"/>
                </a:lnTo>
                <a:lnTo>
                  <a:pt x="2636392" y="3520269"/>
                </a:lnTo>
                <a:lnTo>
                  <a:pt x="0" y="3520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27923" y="4662640"/>
            <a:ext cx="2403766" cy="3520269"/>
          </a:xfrm>
          <a:custGeom>
            <a:avLst/>
            <a:gdLst/>
            <a:ahLst/>
            <a:cxnLst/>
            <a:rect r="r" b="b" t="t" l="l"/>
            <a:pathLst>
              <a:path h="3520269" w="2403766">
                <a:moveTo>
                  <a:pt x="0" y="0"/>
                </a:moveTo>
                <a:lnTo>
                  <a:pt x="2403766" y="0"/>
                </a:lnTo>
                <a:lnTo>
                  <a:pt x="2403766" y="3520269"/>
                </a:lnTo>
                <a:lnTo>
                  <a:pt x="0" y="35202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36028" y="876300"/>
            <a:ext cx="11623939" cy="979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68"/>
              </a:lnSpc>
              <a:spcBef>
                <a:spcPct val="0"/>
              </a:spcBef>
            </a:pPr>
            <a:r>
              <a:rPr lang="en-US" b="true" sz="5473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Case Study of Meta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6161" y="8930640"/>
            <a:ext cx="2422684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Did you know?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7727" y="9410700"/>
            <a:ext cx="17140273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Meta was fined over €1.2 billion by EU regulators for transferring EU user data to the US without proper safeguards.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337404">
            <a:off x="3420962" y="4777855"/>
            <a:ext cx="1465113" cy="1576932"/>
          </a:xfrm>
          <a:custGeom>
            <a:avLst/>
            <a:gdLst/>
            <a:ahLst/>
            <a:cxnLst/>
            <a:rect r="r" b="b" t="t" l="l"/>
            <a:pathLst>
              <a:path h="1576932" w="1465113">
                <a:moveTo>
                  <a:pt x="0" y="0"/>
                </a:moveTo>
                <a:lnTo>
                  <a:pt x="1465112" y="0"/>
                </a:lnTo>
                <a:lnTo>
                  <a:pt x="1465112" y="1576931"/>
                </a:lnTo>
                <a:lnTo>
                  <a:pt x="0" y="15769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140270" y="3899510"/>
            <a:ext cx="4649023" cy="1944137"/>
          </a:xfrm>
          <a:custGeom>
            <a:avLst/>
            <a:gdLst/>
            <a:ahLst/>
            <a:cxnLst/>
            <a:rect r="r" b="b" t="t" l="l"/>
            <a:pathLst>
              <a:path h="1944137" w="4649023">
                <a:moveTo>
                  <a:pt x="0" y="0"/>
                </a:moveTo>
                <a:lnTo>
                  <a:pt x="4649022" y="0"/>
                </a:lnTo>
                <a:lnTo>
                  <a:pt x="4649022" y="1944137"/>
                </a:lnTo>
                <a:lnTo>
                  <a:pt x="0" y="19441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265433" y="4130850"/>
            <a:ext cx="4523859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4"/>
              </a:lnSpc>
              <a:spcBef>
                <a:spcPct val="0"/>
              </a:spcBef>
            </a:pPr>
            <a:r>
              <a:rPr lang="en-US" b="true" sz="2236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Hey Mark! Agents like Synkron can help companies make smarter legal decisions… so they don’t get into trouble!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5065229">
            <a:off x="14230517" y="5157218"/>
            <a:ext cx="1163073" cy="1251839"/>
          </a:xfrm>
          <a:custGeom>
            <a:avLst/>
            <a:gdLst/>
            <a:ahLst/>
            <a:cxnLst/>
            <a:rect r="r" b="b" t="t" l="l"/>
            <a:pathLst>
              <a:path h="1251839" w="1163073">
                <a:moveTo>
                  <a:pt x="0" y="0"/>
                </a:moveTo>
                <a:lnTo>
                  <a:pt x="1163072" y="0"/>
                </a:lnTo>
                <a:lnTo>
                  <a:pt x="1163072" y="1251839"/>
                </a:lnTo>
                <a:lnTo>
                  <a:pt x="0" y="12518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194476" y="3563583"/>
            <a:ext cx="3110351" cy="1300692"/>
          </a:xfrm>
          <a:custGeom>
            <a:avLst/>
            <a:gdLst/>
            <a:ahLst/>
            <a:cxnLst/>
            <a:rect r="r" b="b" t="t" l="l"/>
            <a:pathLst>
              <a:path h="1300692" w="3110351">
                <a:moveTo>
                  <a:pt x="0" y="0"/>
                </a:moveTo>
                <a:lnTo>
                  <a:pt x="3110351" y="0"/>
                </a:lnTo>
                <a:lnTo>
                  <a:pt x="3110351" y="1300692"/>
                </a:lnTo>
                <a:lnTo>
                  <a:pt x="0" y="13006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257058" y="3862488"/>
            <a:ext cx="2985187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4"/>
              </a:lnSpc>
              <a:spcBef>
                <a:spcPct val="0"/>
              </a:spcBef>
            </a:pPr>
            <a:r>
              <a:rPr lang="en-US" b="true" sz="2236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Haha,. I could’ve used that in 2018!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11717982" y="-8365900"/>
            <a:ext cx="10541077" cy="10522453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73110" y="2838906"/>
            <a:ext cx="16290638" cy="683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Tools like Regology, LexisNexis, Xapien and Westlaw mainly provide legal information, but users must still interpret and decide manually. 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Compliance platforms such as OneTrust, ServiceNow GRC, and MetricStream rely on fixed rules and checklists, making them slow and ineffective when laws change or overlap across countries.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These systems cannot directly analyze real business scenarios to determine actual risk.</a:t>
            </a:r>
          </a:p>
          <a:p>
            <a:pPr algn="l">
              <a:lnSpc>
                <a:spcPts val="447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73110" y="1437416"/>
            <a:ext cx="14865547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Existing System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11717982" y="-8365900"/>
            <a:ext cx="10541077" cy="10522453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3638810" y="1970122"/>
            <a:ext cx="10071654" cy="6810956"/>
          </a:xfrm>
          <a:custGeom>
            <a:avLst/>
            <a:gdLst/>
            <a:ahLst/>
            <a:cxnLst/>
            <a:rect r="r" b="b" t="t" l="l"/>
            <a:pathLst>
              <a:path h="6810956" w="10071654">
                <a:moveTo>
                  <a:pt x="0" y="0"/>
                </a:moveTo>
                <a:lnTo>
                  <a:pt x="10071654" y="0"/>
                </a:lnTo>
                <a:lnTo>
                  <a:pt x="10071654" y="6810957"/>
                </a:lnTo>
                <a:lnTo>
                  <a:pt x="0" y="68109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0221" y="309562"/>
            <a:ext cx="14865547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Existing System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89531" y="9364923"/>
            <a:ext cx="17140273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Sample screenshot of Reggi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11717982" y="-8365900"/>
            <a:ext cx="10541077" cy="10522453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14350" y="1266449"/>
            <a:ext cx="14865547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What’s the difference??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4350" y="2819960"/>
            <a:ext cx="17259300" cy="490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8"/>
              </a:lnSpc>
              <a:spcBef>
                <a:spcPct val="0"/>
              </a:spcBef>
            </a:pPr>
          </a:p>
          <a:p>
            <a:pPr algn="l">
              <a:lnSpc>
                <a:spcPts val="4258"/>
              </a:lnSpc>
              <a:spcBef>
                <a:spcPct val="0"/>
              </a:spcBef>
            </a:pPr>
            <a:r>
              <a:rPr lang="en-US" sz="3548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While existing tools provide legal information or guidance, Synkron Knights focuses on applying a consistent and repeatable analysis process to assess legal risk in real business scenarios. It follows a fixed analysis process to understand a business scenario, identify applicable laws across countries, assign a risk score, and give a clear business decision. </a:t>
            </a:r>
          </a:p>
          <a:p>
            <a:pPr algn="l">
              <a:lnSpc>
                <a:spcPts val="4258"/>
              </a:lnSpc>
              <a:spcBef>
                <a:spcPct val="0"/>
              </a:spcBef>
            </a:pPr>
          </a:p>
          <a:p>
            <a:pPr algn="l">
              <a:lnSpc>
                <a:spcPts val="4258"/>
              </a:lnSpc>
              <a:spcBef>
                <a:spcPct val="0"/>
              </a:spcBef>
            </a:pPr>
            <a:r>
              <a:rPr lang="en-US" sz="3548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This makes legal risk assessment faster, repeatable, and reliable instead of opinion-based.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11717982" y="-8365900"/>
            <a:ext cx="10541077" cy="10522453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7398853" y="3664037"/>
            <a:ext cx="2958925" cy="2958925"/>
          </a:xfrm>
          <a:custGeom>
            <a:avLst/>
            <a:gdLst/>
            <a:ahLst/>
            <a:cxnLst/>
            <a:rect r="r" b="b" t="t" l="l"/>
            <a:pathLst>
              <a:path h="2958925" w="2958925">
                <a:moveTo>
                  <a:pt x="0" y="0"/>
                </a:moveTo>
                <a:lnTo>
                  <a:pt x="2958925" y="0"/>
                </a:lnTo>
                <a:lnTo>
                  <a:pt x="2958925" y="2958926"/>
                </a:lnTo>
                <a:lnTo>
                  <a:pt x="0" y="29589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89480" y="4067246"/>
            <a:ext cx="2269820" cy="2617193"/>
          </a:xfrm>
          <a:custGeom>
            <a:avLst/>
            <a:gdLst/>
            <a:ahLst/>
            <a:cxnLst/>
            <a:rect r="r" b="b" t="t" l="l"/>
            <a:pathLst>
              <a:path h="2617193" w="2269820">
                <a:moveTo>
                  <a:pt x="0" y="0"/>
                </a:moveTo>
                <a:lnTo>
                  <a:pt x="2269820" y="0"/>
                </a:lnTo>
                <a:lnTo>
                  <a:pt x="2269820" y="2617192"/>
                </a:lnTo>
                <a:lnTo>
                  <a:pt x="0" y="26171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45715" y="3725513"/>
            <a:ext cx="2958925" cy="2958925"/>
          </a:xfrm>
          <a:custGeom>
            <a:avLst/>
            <a:gdLst/>
            <a:ahLst/>
            <a:cxnLst/>
            <a:rect r="r" b="b" t="t" l="l"/>
            <a:pathLst>
              <a:path h="2958925" w="2958925">
                <a:moveTo>
                  <a:pt x="0" y="0"/>
                </a:moveTo>
                <a:lnTo>
                  <a:pt x="2958925" y="0"/>
                </a:lnTo>
                <a:lnTo>
                  <a:pt x="2958925" y="2958925"/>
                </a:lnTo>
                <a:lnTo>
                  <a:pt x="0" y="29589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3759" y="951641"/>
            <a:ext cx="14865547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80"/>
              </a:lnSpc>
              <a:spcBef>
                <a:spcPct val="0"/>
              </a:spcBef>
            </a:pPr>
            <a:r>
              <a:rPr lang="en-US" b="true" sz="6400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What’s in our Prototype?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4138" y="6984524"/>
            <a:ext cx="3482078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A working AI-based Legal Risk Intelligence Agent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97984" y="7003574"/>
            <a:ext cx="2759794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800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Dashboard covering insights.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736822" y="7213124"/>
            <a:ext cx="3002391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800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Exportable Analysis(as .pdf)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11717982" y="-8365900"/>
            <a:ext cx="10541077" cy="10522453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438147" y="8012421"/>
            <a:ext cx="1983485" cy="1983485"/>
          </a:xfrm>
          <a:custGeom>
            <a:avLst/>
            <a:gdLst/>
            <a:ahLst/>
            <a:cxnLst/>
            <a:rect r="r" b="b" t="t" l="l"/>
            <a:pathLst>
              <a:path h="1983485" w="1983485">
                <a:moveTo>
                  <a:pt x="0" y="0"/>
                </a:moveTo>
                <a:lnTo>
                  <a:pt x="1983485" y="0"/>
                </a:lnTo>
                <a:lnTo>
                  <a:pt x="1983485" y="1983486"/>
                </a:lnTo>
                <a:lnTo>
                  <a:pt x="0" y="19834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722009" y="3010642"/>
            <a:ext cx="1415761" cy="193058"/>
          </a:xfrm>
          <a:custGeom>
            <a:avLst/>
            <a:gdLst/>
            <a:ahLst/>
            <a:cxnLst/>
            <a:rect r="r" b="b" t="t" l="l"/>
            <a:pathLst>
              <a:path h="193058" w="1415761">
                <a:moveTo>
                  <a:pt x="0" y="0"/>
                </a:moveTo>
                <a:lnTo>
                  <a:pt x="1415761" y="0"/>
                </a:lnTo>
                <a:lnTo>
                  <a:pt x="1415761" y="193058"/>
                </a:lnTo>
                <a:lnTo>
                  <a:pt x="0" y="1930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13344" y="2304040"/>
            <a:ext cx="14287939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User enters business scenario text as input.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63861" y="713365"/>
            <a:ext cx="14865547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Flow of Synkron Knights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89991" y="3375470"/>
            <a:ext cx="7041505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Frontend sends text to backend.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61552" y="4505325"/>
            <a:ext cx="729838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Backend preprocesses input text.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86393" y="5638800"/>
            <a:ext cx="10598497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Agent analyzes risks using provided prompt logic.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36567" y="6705600"/>
            <a:ext cx="1096565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Risk score and compliance decision are generated.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19700" y="7772400"/>
            <a:ext cx="1059939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Final response is formatted into readable output.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61552" y="8839200"/>
            <a:ext cx="8048179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Result is displayed on the dashboard.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11717982" y="-8365900"/>
            <a:ext cx="10541077" cy="10522453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656516" y="4155034"/>
            <a:ext cx="14865547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Demonstration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11717982" y="-8365900"/>
            <a:ext cx="10541077" cy="10522453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27542" y="1659584"/>
            <a:ext cx="17200646" cy="836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4"/>
              </a:lnSpc>
            </a:pPr>
            <a:r>
              <a:rPr lang="en-US" sz="360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As of now, Synkron Knights has been created as a minimal but effective prototype that can make a difference in decision-making.</a:t>
            </a:r>
          </a:p>
          <a:p>
            <a:pPr algn="l">
              <a:lnSpc>
                <a:spcPts val="5044"/>
              </a:lnSpc>
            </a:pPr>
          </a:p>
          <a:p>
            <a:pPr algn="l">
              <a:lnSpc>
                <a:spcPts val="5044"/>
              </a:lnSpc>
            </a:pPr>
            <a:r>
              <a:rPr lang="en-US" sz="360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In the future, we plan to incorporate the following ideas into the existing prototype:</a:t>
            </a:r>
          </a:p>
          <a:p>
            <a:pPr algn="l">
              <a:lnSpc>
                <a:spcPts val="5044"/>
              </a:lnSpc>
            </a:pPr>
          </a:p>
          <a:p>
            <a:pPr algn="l" marL="777914" indent="-388957" lvl="1">
              <a:lnSpc>
                <a:spcPts val="5044"/>
              </a:lnSpc>
              <a:buAutoNum type="arabicPeriod" startAt="1"/>
            </a:pPr>
            <a:r>
              <a:rPr lang="en-US" sz="360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Real Time monitoring of Regulatory changes.</a:t>
            </a:r>
          </a:p>
          <a:p>
            <a:pPr algn="l" marL="777914" indent="-388957" lvl="1">
              <a:lnSpc>
                <a:spcPts val="5044"/>
              </a:lnSpc>
              <a:buAutoNum type="arabicPeriod" startAt="1"/>
            </a:pPr>
            <a:r>
              <a:rPr lang="en-US" sz="360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Chatbot for continuous legal assistance and support.</a:t>
            </a:r>
          </a:p>
          <a:p>
            <a:pPr algn="l" marL="777914" indent="-388957" lvl="1">
              <a:lnSpc>
                <a:spcPts val="5044"/>
              </a:lnSpc>
              <a:buAutoNum type="arabicPeriod" startAt="1"/>
            </a:pPr>
            <a:r>
              <a:rPr lang="en-US" sz="360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Business Impact Mapper.</a:t>
            </a:r>
          </a:p>
          <a:p>
            <a:pPr algn="l" marL="777914" indent="-388957" lvl="1">
              <a:lnSpc>
                <a:spcPts val="5044"/>
              </a:lnSpc>
              <a:buAutoNum type="arabicPeriod" startAt="1"/>
            </a:pPr>
            <a:r>
              <a:rPr lang="en-US" sz="360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Past Case Outcome Intelligence.</a:t>
            </a:r>
          </a:p>
          <a:p>
            <a:pPr algn="l" marL="777914" indent="-388957" lvl="1">
              <a:lnSpc>
                <a:spcPts val="5044"/>
              </a:lnSpc>
              <a:buAutoNum type="arabicPeriod" startAt="1"/>
            </a:pPr>
            <a:r>
              <a:rPr lang="en-US" sz="360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Early-Warning Risk Signals.</a:t>
            </a:r>
          </a:p>
          <a:p>
            <a:pPr algn="l">
              <a:lnSpc>
                <a:spcPts val="5044"/>
              </a:lnSpc>
            </a:pPr>
          </a:p>
          <a:p>
            <a:pPr algn="l">
              <a:lnSpc>
                <a:spcPts val="5044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27542" y="309562"/>
            <a:ext cx="14865547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Future Implementation Ideas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11717982" y="-8365900"/>
            <a:ext cx="10541077" cy="10522453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3239344" y="4424362"/>
            <a:ext cx="14865547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Learnings &amp; Key Takeaways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21370" y="991777"/>
            <a:ext cx="337930" cy="337930"/>
          </a:xfrm>
          <a:custGeom>
            <a:avLst/>
            <a:gdLst/>
            <a:ahLst/>
            <a:cxnLst/>
            <a:rect r="r" b="b" t="t" l="l"/>
            <a:pathLst>
              <a:path h="337930" w="337930">
                <a:moveTo>
                  <a:pt x="0" y="0"/>
                </a:moveTo>
                <a:lnTo>
                  <a:pt x="337930" y="0"/>
                </a:lnTo>
                <a:lnTo>
                  <a:pt x="337930" y="337930"/>
                </a:lnTo>
                <a:lnTo>
                  <a:pt x="0" y="337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40567" y="4586049"/>
            <a:ext cx="15406867" cy="1938891"/>
            <a:chOff x="0" y="0"/>
            <a:chExt cx="20542489" cy="258518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209550"/>
              <a:ext cx="20542489" cy="164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519"/>
                </a:lnSpc>
                <a:spcBef>
                  <a:spcPct val="0"/>
                </a:spcBef>
              </a:pPr>
              <a:r>
                <a:rPr lang="en-US" b="true" sz="7099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print("Thank you for your time 🙂")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917804"/>
              <a:ext cx="20542489" cy="6673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8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DAG_yOWKRRQ</dc:identifier>
  <dcterms:modified xsi:type="dcterms:W3CDTF">2011-08-01T06:04:30Z</dcterms:modified>
  <cp:revision>1</cp:revision>
  <dc:title>Agentic AI hackathon</dc:title>
</cp:coreProperties>
</file>